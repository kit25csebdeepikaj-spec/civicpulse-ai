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1432" y="1965960"/>
            <a:ext cx="2926080" cy="2926080"/>
          </a:xfrm>
          <a:prstGeom prst="ellipse">
            <a:avLst/>
          </a:prstGeom>
          <a:ln w="1270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5652" y="1440180"/>
            <a:ext cx="3977640" cy="3977640"/>
          </a:xfrm>
          <a:prstGeom prst="ellipse">
            <a:avLst/>
          </a:prstGeom>
          <a:ln w="12700">
            <a:solidFill>
              <a:srgbClr val="00A896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9872" y="914400"/>
            <a:ext cx="5029200" cy="5029200"/>
          </a:xfrm>
          <a:prstGeom prst="ellipse">
            <a:avLst/>
          </a:prstGeom>
          <a:ln w="12700">
            <a:solidFill>
              <a:srgbClr val="00A896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94092" y="388620"/>
            <a:ext cx="6080760" cy="6080760"/>
          </a:xfrm>
          <a:prstGeom prst="ellipse">
            <a:avLst/>
          </a:prstGeom>
          <a:ln w="12700">
            <a:solidFill>
              <a:srgbClr val="00A896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2832" y="292608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50" y="318759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CivicPulse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Platform for Citizen Grievance Redressal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Track: Citizen Engagement &amp; Public Grievance Management System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703320"/>
            <a:ext cx="42062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Catalyst</a:t>
            </a:r>
            <a:pPr indent="0" marL="0">
              <a:buNone/>
            </a:pPr>
            <a:r>
              <a:rPr lang="en-US" sz="13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TeamCatalyst_CivicPulse.pptx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github.com/team-catalyst/civicpulse-ai  (demo &amp; source)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Grievance systems break down long before the pothole gets fixed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27319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07208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Triage Bottleneck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24612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is read, categorized, and routed by hand — slow, inconsistent, and unable to scale with volume.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21305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227319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807208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Prioritization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81144" y="324612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cosmetic complaint and a public-health hazard sit in the same queue with no urgency signal to act 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7616" y="21305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262" y="227319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807208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Visibility for Citizens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57616" y="324612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vanish into a black box. No status, no ETA, no accountability — trust in the system collapses.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7939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53542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467807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212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Access Barriers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65099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Rural, elderly, and low-literacy citizens can't file a 'proper' complaint in the required format or language.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427939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81144" y="453542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90" y="467807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5212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Overload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81144" y="565099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citizens report the same broken streetlight separately — wasting departmental time and effort.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427939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7616" y="453542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262" y="4678070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5212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Root-Cause Insight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57616" y="565099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fix tickets one by one instead of seeing patterns — e.g. 87% of water complaints from one ward.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multi-agent AI system, not a single chatbot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replaces the human triage desk with six specialized AI agents that intake, understand, prioritize, route, and communicate — while continuously learning from citywide patterns.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narrow responsibility — classification, routing, communication — coordinated by an orchestrator.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structured context to one another, mirroring how a real grievance-redressal office actually works.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2200"/>
              </a:spcAft>
              <a:buSzPct val="100000"/>
              <a:buChar char="•"/>
            </a:pPr>
            <a:r>
              <a:rPr lang="en-US" sz="145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gets smarter over time: every resolved ticket improves future prioritization and routing accuracy.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37960" y="1508760"/>
            <a:ext cx="5120640" cy="4892040"/>
          </a:xfrm>
          <a:prstGeom prst="roundRect">
            <a:avLst>
              <a:gd name="adj" fmla="val 1869"/>
            </a:avLst>
          </a:prstGeom>
          <a:solidFill>
            <a:srgbClr val="0B2B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783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AGENTS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2240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23591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52360" y="2212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Agent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52360" y="2487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 &amp; image capture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0" y="2944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06324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916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Priority Agent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52360" y="3191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urgency scoring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858000" y="36484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376732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52360" y="3621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Agent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452360" y="38953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merge of repeat reports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58000" y="435254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447141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25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52360" y="4599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assignment + SLA escalation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858000" y="5056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872" y="5175504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52360" y="5029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Communication Agent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452360" y="5303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status updates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858000" y="5760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587959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452360" y="5733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Agent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7452360" y="60076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&amp; root-cause analytics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complaint flows through the agent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22219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168" y="2374148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Agent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via text / voice / WhatsApp / photo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71384" y="3031236"/>
            <a:ext cx="201900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Shape 8"/>
          <p:cNvSpPr/>
          <p:nvPr/>
        </p:nvSpPr>
        <p:spPr>
          <a:xfrm>
            <a:off x="2830068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3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22219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596" y="2374148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1508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967228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&amp; Prioritize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67228" y="34290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severity + urgency score assigned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52812" y="3031236"/>
            <a:ext cx="201900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8" name="Shape 14"/>
          <p:cNvSpPr/>
          <p:nvPr/>
        </p:nvSpPr>
        <p:spPr>
          <a:xfrm>
            <a:off x="5111496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3E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1868" y="22219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024" y="2374148"/>
            <a:ext cx="280904" cy="280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2936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248656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Check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248656" y="34290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with existing tickets in same geo-area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134240" y="3031236"/>
            <a:ext cx="201900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5" name="Shape 20"/>
          <p:cNvSpPr/>
          <p:nvPr/>
        </p:nvSpPr>
        <p:spPr>
          <a:xfrm>
            <a:off x="7392924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3E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83296" y="22219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452" y="2374148"/>
            <a:ext cx="280904" cy="280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84364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530084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&amp; Escalate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530084" y="34290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correct dept.; auto-escalates past SLA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9415668" y="3031236"/>
            <a:ext cx="201900" cy="201168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32" name="Shape 26"/>
          <p:cNvSpPr/>
          <p:nvPr/>
        </p:nvSpPr>
        <p:spPr>
          <a:xfrm>
            <a:off x="9674352" y="1965960"/>
            <a:ext cx="1965960" cy="23317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3E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64724" y="2221992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6880" y="2374148"/>
            <a:ext cx="280904" cy="28090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65792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9811512" y="2926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Update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811512" y="34290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status sent back automatically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0B2B33"/>
          </a:solidFill>
          <a:ln/>
        </p:spPr>
      </p:sp>
      <p:sp>
        <p:nvSpPr>
          <p:cNvPr id="39" name="Shape 32"/>
          <p:cNvSpPr/>
          <p:nvPr/>
        </p:nvSpPr>
        <p:spPr>
          <a:xfrm>
            <a:off x="868680" y="50292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214" y="5183734"/>
            <a:ext cx="285293" cy="285293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600200" y="49560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1600200" y="52852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all agents &amp; shared memory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937760" y="502920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294" y="5183734"/>
            <a:ext cx="285293" cy="28529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669280" y="4956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Agent</a:t>
            </a:r>
            <a:endParaRPr lang="en-US" sz="1350" dirty="0"/>
          </a:p>
        </p:txBody>
      </p:sp>
      <p:sp>
        <p:nvSpPr>
          <p:cNvPr id="46" name="Text 37"/>
          <p:cNvSpPr/>
          <p:nvPr/>
        </p:nvSpPr>
        <p:spPr>
          <a:xfrm>
            <a:off x="5669280" y="528523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dashboards &amp; closes the learning loop back to Classification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9464040" y="50292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8574" y="5183734"/>
            <a:ext cx="285293" cy="285293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195560" y="49560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Knowledge Base</a:t>
            </a:r>
            <a:endParaRPr lang="en-US" sz="1250" dirty="0"/>
          </a:p>
        </p:txBody>
      </p:sp>
      <p:sp>
        <p:nvSpPr>
          <p:cNvPr id="50" name="Text 40"/>
          <p:cNvSpPr/>
          <p:nvPr/>
        </p:nvSpPr>
        <p:spPr>
          <a:xfrm>
            <a:off x="10195560" y="5394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geo-index, SLAs</a:t>
            </a:r>
            <a:endParaRPr lang="en-US" sz="950" dirty="0"/>
          </a:p>
        </p:txBody>
      </p:sp>
      <p:sp>
        <p:nvSpPr>
          <p:cNvPr id="51" name="Text 4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proven, production-ready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24912" cy="4206240"/>
          </a:xfrm>
          <a:prstGeom prst="roundRect">
            <a:avLst>
              <a:gd name="adj" fmla="val 3020"/>
            </a:avLst>
          </a:prstGeom>
          <a:solidFill>
            <a:srgbClr val="0B2B33"/>
          </a:solidFill>
          <a:ln/>
        </p:spPr>
      </p:sp>
      <p:sp>
        <p:nvSpPr>
          <p:cNvPr id="5" name="Shape 3"/>
          <p:cNvSpPr/>
          <p:nvPr/>
        </p:nvSpPr>
        <p:spPr>
          <a:xfrm>
            <a:off x="1591056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477" y="22238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703320"/>
            <a:ext cx="22128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web portal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bot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IVR (multilingual STT/TTS)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93008" y="1737360"/>
            <a:ext cx="2724912" cy="4206240"/>
          </a:xfrm>
          <a:prstGeom prst="roundRect">
            <a:avLst>
              <a:gd name="adj" fmla="val 3020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4535424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5" y="22238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28346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&amp; Orchestration Layer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49040" y="3703320"/>
            <a:ext cx="22128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(Claude API) via tool use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LangGraph-style orchestrator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for SLA &amp; escalation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37376" y="1737360"/>
            <a:ext cx="2724912" cy="4206240"/>
          </a:xfrm>
          <a:prstGeom prst="roundRect">
            <a:avLst>
              <a:gd name="adj" fmla="val 3020"/>
            </a:avLst>
          </a:prstGeom>
          <a:solidFill>
            <a:srgbClr val="0B2B33"/>
          </a:solidFill>
          <a:ln/>
        </p:spPr>
      </p:sp>
      <p:sp>
        <p:nvSpPr>
          <p:cNvPr id="15" name="Shape 11"/>
          <p:cNvSpPr/>
          <p:nvPr/>
        </p:nvSpPr>
        <p:spPr>
          <a:xfrm>
            <a:off x="7479792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213" y="22238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28346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Infra Layer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693408" y="3703320"/>
            <a:ext cx="22128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(geo-index)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for duplicate detection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FastAPI microservices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381744" y="1737360"/>
            <a:ext cx="2724912" cy="4206240"/>
          </a:xfrm>
          <a:prstGeom prst="roundRect">
            <a:avLst>
              <a:gd name="adj" fmla="val 3020"/>
            </a:avLst>
          </a:prstGeom>
          <a:solidFill>
            <a:srgbClr val="02809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424160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0581" y="22238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4624" y="283464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Ops Layer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637776" y="3703320"/>
            <a:ext cx="22128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+ audit log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(Metabase)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1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deploy: AWS / Azure, Docker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 platform genuinely usable — not just automated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20824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276" y="2158716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20824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Geo-Intelligence Heatmap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" y="2697480"/>
            <a:ext cx="3044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plotted in real time so officials see hotspots at a glance, not buried in spreadsheets.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2856" y="2020824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748" y="2158716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2020824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Escalation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62856" y="2697480"/>
            <a:ext cx="3044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tickets likely to go viral or breach SLA before they become a crisis — proactive, not reactive.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783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2020824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20" y="2158716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5984" y="2020824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Voice-First Accessibility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9328" y="2697480"/>
            <a:ext cx="3044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Elderly, rural, and low-literacy citizens file complaints by speaking naturally in their own language.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8795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6384" y="4425696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76" y="4563588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425696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Explain-This-Decision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86384" y="5102352"/>
            <a:ext cx="3044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shows exactly why a complaint was prioritized or routed the way it was — full transparency.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418795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2856" y="4425696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748" y="4563588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4425696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Trust Ledger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62856" y="5102352"/>
            <a:ext cx="3044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Anonymized, ward-wise resolution-time data published openly — accountability by design.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4187952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9328" y="4425696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20" y="4563588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5984" y="4425696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Ingestion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39328" y="5102352"/>
            <a:ext cx="3044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WhatsApp, and call-center transcripts all flow into the same unified agent pipeline.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DEMO / USE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Walkthrough: a sewage-overflow complaint, start to finish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7605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reports via WhatsApp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38912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“Sewage overflowing near Ward 12 school, kids can't walk past it.” — photo attached.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72968" y="3840480"/>
            <a:ext cx="219456" cy="18288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Shape 8"/>
          <p:cNvSpPr/>
          <p:nvPr/>
        </p:nvSpPr>
        <p:spPr>
          <a:xfrm>
            <a:off x="3410712" y="196596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9312" y="2240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39312" y="26060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846" y="27605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9312" y="3474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classifies in &lt;2 seconds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39312" y="438912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Sanitation · Severity: High (public health risk) · Urgency score: 9.4/10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3840480"/>
            <a:ext cx="219456" cy="18288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8" name="Shape 14"/>
          <p:cNvSpPr/>
          <p:nvPr/>
        </p:nvSpPr>
        <p:spPr>
          <a:xfrm>
            <a:off x="6272784" y="196596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01384" y="2240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501384" y="26060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918" y="276057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01384" y="3474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Auto-routed &amp; escalated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01384" y="438912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Ward 12 Sanitation Officer with a 24-hour SLA; supervisor cc'd automatically.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897112" y="3840480"/>
            <a:ext cx="219456" cy="18288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5" name="Shape 20"/>
          <p:cNvSpPr/>
          <p:nvPr/>
        </p:nvSpPr>
        <p:spPr>
          <a:xfrm>
            <a:off x="9134856" y="196596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0B2B33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363456" y="22402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363456" y="26060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990" y="2760574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63456" y="3474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gets live updates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363456" y="438912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complaint is assigned, crew dispatched, expected fix by 6 PM today.” — no follow-up call needed.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INNOVATION &amp;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more than a smarter ticketing 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9714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105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Proactive, not reactive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139696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escalation catches problems before they blow up into crises or media stories.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338876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278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as a feature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3557016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Explain-This-Decision + public trust ledger turn opacity — government's biggest credibility gap — into an asset.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80608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6451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Inclusive by default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974336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multilingual intake reaches citizens most digital platforms quietly exclude.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75120" y="182880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0F3A41"/>
          </a:solidFill>
          <a:ln w="12700">
            <a:solidFill>
              <a:srgbClr val="1E4E5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949440" y="196596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10M+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8595360" y="19659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reachable via WhatsApp + voice in a mid-size city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75120" y="324612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0F3A41"/>
          </a:solidFill>
          <a:ln w="12700">
            <a:solidFill>
              <a:srgbClr val="1E4E5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49440" y="33832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8595360" y="33832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avg. resolution vs. manual triage (pilot estimate)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675120" y="466344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0F3A41"/>
          </a:solidFill>
          <a:ln w="12700">
            <a:solidFill>
              <a:srgbClr val="1E4E5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949440" y="48006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8595360" y="48006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duplicate tickets via semantic merging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SCALABILITY &amp; FEASIBILITY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go from one ward to an entire state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724912" cy="3566160"/>
          </a:xfrm>
          <a:prstGeom prst="roundRect">
            <a:avLst>
              <a:gd name="adj" fmla="val 302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8488" y="216712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644" y="231928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0175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Agents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361188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complaint categories or languages plug in as new agent skills — no pipeline rewrite.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93008" y="1874520"/>
            <a:ext cx="2724912" cy="3566160"/>
          </a:xfrm>
          <a:prstGeom prst="roundRect">
            <a:avLst>
              <a:gd name="adj" fmla="val 302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2856" y="216712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012" y="2319284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94176" y="30175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712464" y="361188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microservices auto-scale with complaint volume during peak events.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37376" y="1874520"/>
            <a:ext cx="2724912" cy="3566160"/>
          </a:xfrm>
          <a:prstGeom prst="roundRect">
            <a:avLst>
              <a:gd name="adj" fmla="val 302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07224" y="216712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380" y="2319284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8544" y="30175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City-Agnostic Data Model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656832" y="361188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+ department schema is config-driven — onboarding a new city is a data mapping task, not new code.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81744" y="1874520"/>
            <a:ext cx="2724912" cy="3566160"/>
          </a:xfrm>
          <a:prstGeom prst="roundRect">
            <a:avLst>
              <a:gd name="adj" fmla="val 3020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451592" y="2167128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3748" y="2319284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82912" y="301752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to Pilot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601200" y="361188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buildable on existing LLM APIs + open geo-data — no custom hardware or long procurement cycles.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in the demo vs. what comes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534924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HACKATHON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93" y="2732593"/>
            <a:ext cx="149230" cy="1492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59689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Agent (text + WhatsApp)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15468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93" y="3235513"/>
            <a:ext cx="149230" cy="1492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09981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Priority Agent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65760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93" y="3738433"/>
            <a:ext cx="149230" cy="1492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6027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Agent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93" y="4241353"/>
            <a:ext cx="149230" cy="1492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10565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Agent with SLA rules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22960" y="466344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93" y="4744273"/>
            <a:ext cx="149230" cy="14923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460857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Communication Agent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822960" y="51663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793" y="5247193"/>
            <a:ext cx="149230" cy="14923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511149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geo-heatmap dashboard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263640" y="178308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/>
        </p:spPr>
      </p:sp>
      <p:sp>
        <p:nvSpPr>
          <p:cNvPr id="28" name="Shape 20"/>
          <p:cNvSpPr/>
          <p:nvPr/>
        </p:nvSpPr>
        <p:spPr>
          <a:xfrm>
            <a:off x="6263640" y="2103120"/>
            <a:ext cx="534924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1"/>
          <p:cNvSpPr/>
          <p:nvPr/>
        </p:nvSpPr>
        <p:spPr>
          <a:xfrm>
            <a:off x="6537960" y="178308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POST-HACKATHON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537960" y="265176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8793" y="2732593"/>
            <a:ext cx="149230" cy="14923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995160" y="259689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multilingual intake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537960" y="315468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8793" y="3235513"/>
            <a:ext cx="149230" cy="14923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95160" y="309981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escalation model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537960" y="36576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8793" y="3738433"/>
            <a:ext cx="149230" cy="14923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95160" y="360273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Explain-This-Decision UI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6537960" y="416052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8793" y="4241353"/>
            <a:ext cx="149230" cy="14923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995160" y="410565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trust ledger (open data)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6537960" y="466344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8793" y="4744273"/>
            <a:ext cx="149230" cy="14923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995160" y="460857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Call-center transcript ingestion</a:t>
            </a:r>
            <a:endParaRPr lang="en-US" sz="1200" dirty="0"/>
          </a:p>
        </p:txBody>
      </p:sp>
      <p:sp>
        <p:nvSpPr>
          <p:cNvPr id="45" name="Shape 32"/>
          <p:cNvSpPr/>
          <p:nvPr/>
        </p:nvSpPr>
        <p:spPr>
          <a:xfrm>
            <a:off x="6537960" y="516636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8793" y="5247193"/>
            <a:ext cx="149230" cy="14923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995160" y="511149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civic reporting</a:t>
            </a:r>
            <a:endParaRPr lang="en-US" sz="1200" dirty="0"/>
          </a:p>
        </p:txBody>
      </p:sp>
      <p:sp>
        <p:nvSpPr>
          <p:cNvPr id="48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INNOVIK HACKATHON  ·  CIVICPULSE</a:t>
            </a:r>
            <a:endParaRPr lang="en-US" sz="900" dirty="0"/>
          </a:p>
        </p:txBody>
      </p:sp>
      <p:sp>
        <p:nvSpPr>
          <p:cNvPr id="49" name="Text 35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RESPONSIBLE AI &amp; UX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explains itself — built for public trust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0985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0195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Routing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322576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priority/routing decision logs the exact factors that triggered it — visible to citizens and auditors on request.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35615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36499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17320" y="3785616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or ambiguous cases are flagged for officer review before final routing — AI assists, doesn't replace judgment.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8463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0246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82803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17320" y="5248656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is minimized and access-controlled; the public trust ledger publishes only anonymized, aggregated metrics.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9436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4F9F8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aligned with the hackathon's Cyber Security &amp; Digital Trust Framework track — trust isn't an afterthought, it's the core design principle.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2952" y="8229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6358" y="1096366"/>
            <a:ext cx="504749" cy="5047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silent complaints into accountable action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shows how agentic AI can take a slow, opaque civic process and make it fast, fair, and transparent — without needing new hardware, new infrastructure, or a citizen behavior change. It's a system every ward, town, or state can adopt with the data it already has.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977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4072738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39959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multi-agent prototype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4480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4575658"/>
            <a:ext cx="175565" cy="1755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4988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honest Phase 2 roadmap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983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8" y="5078578"/>
            <a:ext cx="175565" cy="1755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50017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trust, not just automation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12700">
            <a:solidFill>
              <a:srgbClr val="1E4E5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Catalyst</a:t>
            </a:r>
            <a:pPr indent="0" marL="0">
              <a:buNone/>
            </a:pPr>
            <a:r>
              <a:rPr lang="en-US" sz="12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github.com/team-catalyst/civicpulse-ai   |   Thank you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LIVE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Dashboard — working prototype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3794760"/>
          </a:xfrm>
          <a:prstGeom prst="roundRect">
            <a:avLst>
              <a:gd name="adj" fmla="val 1928"/>
            </a:avLst>
          </a:prstGeom>
          <a:solidFill>
            <a:srgbClr val="F4F9F8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774436" y="25831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857" y="27496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061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DASHBOARD SCREENSHOT HERE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753612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size 1600 × 1000px  ·  crop to page content only (no browser chrome)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55961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https://team-catalyst.github.io/civicpulse-ai/prototype/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88873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 </a:t>
            </a:r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github.com/team-catalyst/civicpulse-ai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031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2026-08-14T09:32:09Z</dcterms:created>
  <dcterms:modified xsi:type="dcterms:W3CDTF">2026-08-14T09:32:09Z</dcterms:modified>
</cp:coreProperties>
</file>